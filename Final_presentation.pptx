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2"/>
  </p:notesMasterIdLst>
  <p:sldIdLst>
    <p:sldId id="256" r:id="rId2"/>
    <p:sldId id="257" r:id="rId3"/>
    <p:sldId id="269" r:id="rId4"/>
    <p:sldId id="268" r:id="rId5"/>
    <p:sldId id="272" r:id="rId6"/>
    <p:sldId id="271" r:id="rId7"/>
    <p:sldId id="270" r:id="rId8"/>
    <p:sldId id="273" r:id="rId9"/>
    <p:sldId id="265" r:id="rId10"/>
    <p:sldId id="266"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05"/>
    <p:restoredTop sz="94654"/>
  </p:normalViewPr>
  <p:slideViewPr>
    <p:cSldViewPr snapToGrid="0">
      <p:cViewPr varScale="1">
        <p:scale>
          <a:sx n="90" d="100"/>
          <a:sy n="90" d="100"/>
        </p:scale>
        <p:origin x="216" y="5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693360"/>
            <a:ext cx="10363200" cy="108284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3600" dirty="0">
                <a:solidFill>
                  <a:schemeClr val="tx1"/>
                </a:solidFill>
                <a:latin typeface="Cambria" panose="02040503050406030204" pitchFamily="18" charset="0"/>
                <a:ea typeface="Cambria" panose="02040503050406030204" pitchFamily="18" charset="0"/>
              </a:rPr>
              <a:t>Patient Case Similarity</a:t>
            </a:r>
            <a:endParaRPr sz="36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609601" y="1583172"/>
            <a:ext cx="3377172"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Cambria" panose="02040503050406030204" pitchFamily="18" charset="0"/>
                <a:ea typeface="Cambria" panose="02040503050406030204" pitchFamily="18" charset="0"/>
              </a:rPr>
              <a:t>Batch Number: CSD –G29</a:t>
            </a:r>
            <a:endParaRPr dirty="0">
              <a:latin typeface="Cambria" panose="02040503050406030204" pitchFamily="18" charset="0"/>
              <a:ea typeface="Cambria" panose="02040503050406030204" pitchFamily="18" charset="0"/>
            </a:endParaRPr>
          </a:p>
          <a:p>
            <a:pPr marL="0" lvl="0" indent="0" algn="l" rtl="0">
              <a:spcBef>
                <a:spcPts val="400"/>
              </a:spcBef>
              <a:spcAft>
                <a:spcPts val="0"/>
              </a:spcAft>
              <a:buClr>
                <a:srgbClr val="17365D"/>
              </a:buClr>
              <a:buSzPts val="2000"/>
              <a:buNone/>
            </a:pPr>
            <a:endParaRPr dirty="0">
              <a:latin typeface="Cambria" panose="02040503050406030204" pitchFamily="18" charset="0"/>
              <a:ea typeface="Cambria" panose="02040503050406030204" pitchFamily="18" charset="0"/>
            </a:endParaRPr>
          </a:p>
        </p:txBody>
      </p:sp>
      <p:graphicFrame>
        <p:nvGraphicFramePr>
          <p:cNvPr id="89" name="Google Shape;89;p13"/>
          <p:cNvGraphicFramePr/>
          <p:nvPr>
            <p:extLst>
              <p:ext uri="{D42A27DB-BD31-4B8C-83A1-F6EECF244321}">
                <p14:modId xmlns:p14="http://schemas.microsoft.com/office/powerpoint/2010/main" val="901899920"/>
              </p:ext>
            </p:extLst>
          </p:nvPr>
        </p:nvGraphicFramePr>
        <p:xfrm>
          <a:off x="609600" y="2324100"/>
          <a:ext cx="5870595" cy="3555363"/>
        </p:xfrm>
        <a:graphic>
          <a:graphicData uri="http://schemas.openxmlformats.org/drawingml/2006/table">
            <a:tbl>
              <a:tblPr firstRow="1" bandRow="1">
                <a:noFill/>
                <a:tableStyleId>{57690726-49DA-4552-BDEB-330DD8EA8BD9}</a:tableStyleId>
              </a:tblPr>
              <a:tblGrid>
                <a:gridCol w="2258890">
                  <a:extLst>
                    <a:ext uri="{9D8B030D-6E8A-4147-A177-3AD203B41FA5}">
                      <a16:colId xmlns:a16="http://schemas.microsoft.com/office/drawing/2014/main" val="20000"/>
                    </a:ext>
                  </a:extLst>
                </a:gridCol>
                <a:gridCol w="3611705">
                  <a:extLst>
                    <a:ext uri="{9D8B030D-6E8A-4147-A177-3AD203B41FA5}">
                      <a16:colId xmlns:a16="http://schemas.microsoft.com/office/drawing/2014/main" val="20001"/>
                    </a:ext>
                  </a:extLst>
                </a:gridCol>
              </a:tblGrid>
              <a:tr h="328867">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726513">
                <a:tc>
                  <a:txBody>
                    <a:bodyPr/>
                    <a:lstStyle/>
                    <a:p>
                      <a:pPr marL="0" marR="0" lvl="0" indent="0" algn="ctr" rtl="0">
                        <a:spcBef>
                          <a:spcPts val="0"/>
                        </a:spcBef>
                        <a:spcAft>
                          <a:spcPts val="0"/>
                        </a:spcAft>
                        <a:buFont typeface="+mj-lt"/>
                        <a:buNone/>
                      </a:pPr>
                      <a:r>
                        <a:rPr lang="en-US" sz="2000" u="none" strike="noStrike" cap="none" dirty="0"/>
                        <a:t>20211CSD0142</a:t>
                      </a:r>
                    </a:p>
                    <a:p>
                      <a:pPr marL="0" marR="0" lvl="0" indent="0" algn="ctr" rtl="0">
                        <a:spcBef>
                          <a:spcPts val="0"/>
                        </a:spcBef>
                        <a:spcAft>
                          <a:spcPts val="0"/>
                        </a:spcAft>
                        <a:buFont typeface="+mj-lt"/>
                        <a:buNone/>
                      </a:pPr>
                      <a:r>
                        <a:rPr lang="en-IN" sz="2000" u="none" strike="noStrike" cap="none" dirty="0"/>
                        <a:t>20211CSD0001</a:t>
                      </a:r>
                    </a:p>
                    <a:p>
                      <a:pPr marL="0" marR="0" lvl="0" indent="0" algn="ctr" rtl="0">
                        <a:spcBef>
                          <a:spcPts val="0"/>
                        </a:spcBef>
                        <a:spcAft>
                          <a:spcPts val="0"/>
                        </a:spcAft>
                        <a:buFont typeface="+mj-lt"/>
                        <a:buNone/>
                      </a:pPr>
                      <a:r>
                        <a:rPr lang="en-IN" sz="2000" u="none" strike="noStrike" cap="none" dirty="0"/>
                        <a:t>20211CSD0198</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dirty="0"/>
                        <a:t>Mynampati Sri Ranganadha Avinash</a:t>
                      </a:r>
                    </a:p>
                    <a:p>
                      <a:pPr marL="0" marR="0" lvl="0" indent="0" algn="ctr" rtl="0">
                        <a:spcBef>
                          <a:spcPts val="0"/>
                        </a:spcBef>
                        <a:spcAft>
                          <a:spcPts val="0"/>
                        </a:spcAft>
                        <a:buNone/>
                      </a:pPr>
                      <a:r>
                        <a:rPr lang="en-US" sz="2000" u="none" strike="noStrike" cap="none" dirty="0"/>
                        <a:t>Sanjana S Acharya  </a:t>
                      </a:r>
                    </a:p>
                    <a:p>
                      <a:pPr marL="0" marR="0" lvl="0" indent="0" algn="ctr" rtl="0">
                        <a:spcBef>
                          <a:spcPts val="0"/>
                        </a:spcBef>
                        <a:spcAft>
                          <a:spcPts val="0"/>
                        </a:spcAft>
                        <a:buNone/>
                      </a:pPr>
                      <a:r>
                        <a:rPr lang="en-US" sz="2000" u="none" strike="noStrike" cap="none" dirty="0"/>
                        <a:t>Dabbara Asritha</a:t>
                      </a:r>
                    </a:p>
                    <a:p>
                      <a:pPr marL="0" marR="0" lvl="0" indent="0" algn="ctr" rtl="0">
                        <a:spcBef>
                          <a:spcPts val="0"/>
                        </a:spcBef>
                        <a:spcAft>
                          <a:spcPts val="0"/>
                        </a:spcAft>
                        <a:buNone/>
                      </a:pPr>
                      <a:endParaRPr lang="en-US"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2886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2886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2886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28867">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 </a:t>
            </a:r>
            <a:r>
              <a:rPr lang="en-GB" sz="2000" b="1" i="0" u="none" strike="noStrike" cap="none" dirty="0" err="1">
                <a:solidFill>
                  <a:srgbClr val="17365D"/>
                </a:solidFill>
                <a:latin typeface="Cambria" panose="02040503050406030204" pitchFamily="18" charset="0"/>
                <a:ea typeface="Cambria" panose="02040503050406030204" pitchFamily="18" charset="0"/>
                <a:cs typeface="Verdana"/>
                <a:sym typeface="Verdana"/>
              </a:rPr>
              <a:t>Himansu</a:t>
            </a: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 Sekhar Rout</a:t>
            </a:r>
            <a:endParaRPr sz="2000"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a:t>
            </a:r>
            <a:r>
              <a:rPr lang="en-GB" sz="1700" b="1" dirty="0">
                <a:solidFill>
                  <a:srgbClr val="17365D"/>
                </a:solidFill>
                <a:latin typeface="Cambria" panose="02040503050406030204" pitchFamily="18" charset="0"/>
                <a:ea typeface="Cambria" panose="02040503050406030204" pitchFamily="18" charset="0"/>
                <a:cs typeface="Verdana"/>
                <a:sym typeface="Verdana"/>
              </a:rPr>
              <a:t>Information Sciences</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91" name="Google Shape;91;p13"/>
          <p:cNvSpPr txBox="1"/>
          <p:nvPr/>
        </p:nvSpPr>
        <p:spPr>
          <a:xfrm>
            <a:off x="3986772" y="334089"/>
            <a:ext cx="3970500" cy="552300"/>
          </a:xfrm>
          <a:prstGeom prst="rect">
            <a:avLst/>
          </a:prstGeom>
          <a:noFill/>
          <a:ln>
            <a:noFill/>
          </a:ln>
        </p:spPr>
        <p:txBody>
          <a:bodyPr spcFirstLastPara="1" wrap="square" lIns="91425" tIns="45700" rIns="91425" bIns="45700" anchor="t" anchorCtr="0">
            <a:normAutofit fontScale="85000" lnSpcReduction="20000"/>
          </a:bodyPr>
          <a:lstStyle/>
          <a:p>
            <a:pPr marL="0" marR="0" lvl="0" indent="0" algn="ctr" rtl="0">
              <a:spcBef>
                <a:spcPts val="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PIP2001 Capstone Project</a:t>
            </a:r>
            <a:endParaRPr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Cambria" panose="02040503050406030204" pitchFamily="18" charset="0"/>
                <a:ea typeface="Cambria" panose="02040503050406030204" pitchFamily="18" charset="0"/>
                <a:cs typeface="Verdana"/>
                <a:sym typeface="Verdana"/>
              </a:rPr>
              <a:t>Final Review</a:t>
            </a: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a:buClr>
                <a:srgbClr val="17365D"/>
              </a:buClr>
              <a:buSzPct val="100000"/>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IN" sz="2000" b="1" kern="100" dirty="0">
                <a:solidFill>
                  <a:schemeClr val="tx1"/>
                </a:solidFill>
                <a:latin typeface="Times New Roman" panose="02020603050405020304" pitchFamily="18" charset="0"/>
                <a:ea typeface="Cambria" panose="02040503050406030204" pitchFamily="18" charset="0"/>
                <a:cs typeface="Verdana"/>
                <a:sym typeface="Verdana"/>
              </a:rPr>
              <a:t>Computer Science and Engineering(Data Science)</a:t>
            </a:r>
            <a:endPar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a:p>
            <a:pPr marL="0" marR="0" lvl="0" indent="0" rtl="0">
              <a:spcBef>
                <a:spcPts val="0"/>
              </a:spcBef>
              <a:spcAft>
                <a:spcPts val="0"/>
              </a:spcAft>
              <a:buClr>
                <a:srgbClr val="17365D"/>
              </a:buClr>
              <a:buSzPct val="100000"/>
              <a:buFont typeface="Arial"/>
              <a:buNone/>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2000" b="1" dirty="0">
                <a:solidFill>
                  <a:schemeClr val="tx1"/>
                </a:solidFill>
                <a:latin typeface="Cambria" panose="02040503050406030204" pitchFamily="18" charset="0"/>
                <a:ea typeface="Cambria" panose="02040503050406030204" pitchFamily="18" charset="0"/>
                <a:cs typeface="Verdana"/>
                <a:sym typeface="Verdana"/>
              </a:rPr>
              <a:t>Dr. Saira Banu</a:t>
            </a:r>
          </a:p>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 Dr. H.M Manjula</a:t>
            </a:r>
          </a:p>
          <a:p>
            <a:pPr lvl="0">
              <a:buClr>
                <a:srgbClr val="17365D"/>
              </a:buClr>
              <a:buSzPct val="100000"/>
            </a:pPr>
            <a:r>
              <a:rPr lang="en-US" sz="20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2000" b="1" i="0" u="none" strike="noStrike" cap="none" dirty="0">
                <a:solidFill>
                  <a:schemeClr val="tx1"/>
                </a:solidFill>
                <a:latin typeface="Cambria" panose="02040503050406030204" pitchFamily="18" charset="0"/>
                <a:ea typeface="Cambria" panose="02040503050406030204" pitchFamily="18" charset="0"/>
                <a:cs typeface="Verdana"/>
                <a:sym typeface="Verdana"/>
              </a:rPr>
              <a:t> Dr. Abdul Khadar A</a:t>
            </a:r>
            <a:endParaRPr sz="20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3924299"/>
          </a:xfrm>
          <a:prstGeom prst="rect">
            <a:avLst/>
          </a:prstGeom>
          <a:noFill/>
          <a:ln>
            <a:noFill/>
          </a:ln>
        </p:spPr>
        <p:txBody>
          <a:bodyPr spcFirstLastPara="1" wrap="square" lIns="91425" tIns="45700" rIns="91425" bIns="45700" anchor="t" anchorCtr="0">
            <a:normAutofit/>
          </a:bodyPr>
          <a:lstStyle/>
          <a:p>
            <a:pPr marL="495300" indent="-342900" algn="just">
              <a:lnSpc>
                <a:spcPct val="200000"/>
              </a:lnSpc>
              <a:spcBef>
                <a:spcPts val="0"/>
              </a:spcBef>
              <a:buFont typeface="Wingdings" panose="05000000000000000000" pitchFamily="2" charset="2"/>
              <a:buChar char="Ø"/>
            </a:pPr>
            <a:r>
              <a:rPr lang="en-US" sz="2800" dirty="0">
                <a:latin typeface="Cambria" panose="02040503050406030204" pitchFamily="18" charset="0"/>
                <a:ea typeface="Cambria" panose="02040503050406030204" pitchFamily="18" charset="0"/>
              </a:rPr>
              <a:t>Problem Statement</a:t>
            </a:r>
          </a:p>
          <a:p>
            <a:pPr marL="495300" lvl="0" indent="-342900" algn="just">
              <a:lnSpc>
                <a:spcPct val="200000"/>
              </a:lnSpc>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Analysis of Problem Statement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01471" y="1148365"/>
            <a:ext cx="11373853" cy="4682420"/>
          </a:xfrm>
          <a:prstGeom prst="rect">
            <a:avLst/>
          </a:prstGeom>
          <a:noFill/>
          <a:ln>
            <a:noFill/>
          </a:ln>
        </p:spPr>
        <p:txBody>
          <a:bodyPr spcFirstLastPara="1" wrap="square" lIns="91425" tIns="45700" rIns="91425" bIns="45700" anchor="t" anchorCtr="0">
            <a:normAutofit fontScale="47500" lnSpcReduction="20000"/>
          </a:bodyPr>
          <a:lstStyle/>
          <a:p>
            <a:pPr marL="342900" lvl="0" indent="-190500" algn="just">
              <a:spcBef>
                <a:spcPts val="0"/>
              </a:spcBef>
              <a:buNone/>
            </a:pPr>
            <a:r>
              <a:rPr lang="en-US" sz="5100" dirty="0">
                <a:latin typeface="Cambria" panose="02040503050406030204" pitchFamily="18" charset="0"/>
                <a:ea typeface="Cambria" panose="02040503050406030204" pitchFamily="18" charset="0"/>
              </a:rPr>
              <a:t>Organization: </a:t>
            </a:r>
            <a:r>
              <a:rPr lang="en-US" sz="4400" dirty="0">
                <a:latin typeface="Cambria" panose="02040503050406030204" pitchFamily="18" charset="0"/>
                <a:ea typeface="Cambria" panose="02040503050406030204" pitchFamily="18" charset="0"/>
              </a:rPr>
              <a:t>ezDI</a:t>
            </a:r>
          </a:p>
          <a:p>
            <a:pPr marL="342900" lvl="0" indent="-190500" algn="just">
              <a:lnSpc>
                <a:spcPct val="200000"/>
              </a:lnSpc>
              <a:spcBef>
                <a:spcPts val="0"/>
              </a:spcBef>
              <a:buNone/>
            </a:pPr>
            <a:r>
              <a:rPr lang="en-US" sz="5100" dirty="0">
                <a:latin typeface="Cambria" panose="02040503050406030204" pitchFamily="18" charset="0"/>
                <a:ea typeface="Cambria" panose="02040503050406030204" pitchFamily="18" charset="0"/>
              </a:rPr>
              <a:t>Category </a:t>
            </a:r>
            <a:r>
              <a:rPr lang="en-US" sz="4400" dirty="0">
                <a:latin typeface="Cambria" panose="02040503050406030204" pitchFamily="18" charset="0"/>
                <a:ea typeface="Cambria" panose="02040503050406030204" pitchFamily="18" charset="0"/>
              </a:rPr>
              <a:t> </a:t>
            </a:r>
            <a:r>
              <a:rPr lang="en-US" sz="2900" dirty="0">
                <a:latin typeface="Cambria" panose="02040503050406030204" pitchFamily="18" charset="0"/>
                <a:ea typeface="Cambria" panose="02040503050406030204" pitchFamily="18" charset="0"/>
              </a:rPr>
              <a:t>:  </a:t>
            </a:r>
            <a:r>
              <a:rPr lang="en-US" sz="4400" dirty="0">
                <a:latin typeface="Cambria" panose="02040503050406030204" pitchFamily="18" charset="0"/>
                <a:ea typeface="Cambria" panose="02040503050406030204" pitchFamily="18" charset="0"/>
              </a:rPr>
              <a:t>Software</a:t>
            </a:r>
          </a:p>
          <a:p>
            <a:pPr marL="342900" lvl="0" indent="-190500" algn="just">
              <a:lnSpc>
                <a:spcPct val="200000"/>
              </a:lnSpc>
              <a:spcBef>
                <a:spcPts val="0"/>
              </a:spcBef>
              <a:buNone/>
            </a:pPr>
            <a:r>
              <a:rPr lang="en-US" sz="4400" dirty="0">
                <a:solidFill>
                  <a:schemeClr val="tx1"/>
                </a:solidFill>
                <a:latin typeface="Cambria" panose="02040503050406030204" pitchFamily="18" charset="0"/>
                <a:ea typeface="Cambria" panose="02040503050406030204" pitchFamily="18" charset="0"/>
              </a:rPr>
              <a:t>P</a:t>
            </a:r>
            <a:r>
              <a:rPr lang="en-US" sz="5100" dirty="0">
                <a:solidFill>
                  <a:schemeClr val="tx1"/>
                </a:solidFill>
                <a:latin typeface="Cambria" panose="02040503050406030204" pitchFamily="18" charset="0"/>
                <a:ea typeface="Cambria" panose="02040503050406030204" pitchFamily="18" charset="0"/>
              </a:rPr>
              <a:t>roblem Description </a:t>
            </a:r>
            <a:r>
              <a:rPr lang="en-US" sz="4200" dirty="0">
                <a:latin typeface="Cambria" panose="02040503050406030204" pitchFamily="18" charset="0"/>
                <a:ea typeface="Cambria" panose="02040503050406030204" pitchFamily="18" charset="0"/>
              </a:rPr>
              <a:t>:   The objective of patient case similarity is to identify similar patients based on their medical reports. Identification of similar patient cases be useful for improving patient outcome, for treatment or drug recommendation to a new patient, prediction of clinical outcome, clinical decision support, research on those cases. Task: Applying machine learning algorithms to find similar patient cases from given dataset.</a:t>
            </a:r>
          </a:p>
          <a:p>
            <a:pPr marL="342900" lvl="0" indent="-190500" algn="just">
              <a:lnSpc>
                <a:spcPct val="200000"/>
              </a:lnSpc>
              <a:spcBef>
                <a:spcPts val="0"/>
              </a:spcBef>
              <a:buNone/>
            </a:pPr>
            <a:r>
              <a:rPr lang="en-US" sz="4400" dirty="0">
                <a:latin typeface="Cambria" panose="02040503050406030204" pitchFamily="18" charset="0"/>
                <a:ea typeface="Cambria" panose="02040503050406030204" pitchFamily="18" charset="0"/>
              </a:rPr>
              <a:t>Difficulty Level:  </a:t>
            </a:r>
            <a:r>
              <a:rPr lang="en-US" sz="3300" dirty="0">
                <a:latin typeface="Cambria" panose="02040503050406030204" pitchFamily="18" charset="0"/>
                <a:ea typeface="Cambria" panose="02040503050406030204" pitchFamily="18" charset="0"/>
              </a:rPr>
              <a:t>Complex</a:t>
            </a:r>
            <a:endParaRPr sz="33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711200" y="1128156"/>
            <a:ext cx="10700987" cy="4919718"/>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sz="1600" b="1" dirty="0">
                <a:latin typeface="Cambria" panose="02040503050406030204" pitchFamily="18" charset="0"/>
              </a:rPr>
              <a:t>Context and Background:</a:t>
            </a:r>
          </a:p>
          <a:p>
            <a:pPr marL="342900" lvl="0" indent="-190500" algn="just" rtl="0">
              <a:spcBef>
                <a:spcPts val="0"/>
              </a:spcBef>
              <a:spcAft>
                <a:spcPts val="0"/>
              </a:spcAft>
              <a:buClr>
                <a:schemeClr val="dk1"/>
              </a:buClr>
              <a:buSzPct val="100000"/>
              <a:buNone/>
            </a:pPr>
            <a:endParaRPr lang="en-IN" sz="1600" b="1" dirty="0">
              <a:latin typeface="Cambria" panose="02040503050406030204" pitchFamily="18" charset="0"/>
            </a:endParaRPr>
          </a:p>
          <a:p>
            <a:pPr marL="342900" indent="-190500" algn="just">
              <a:spcBef>
                <a:spcPts val="0"/>
              </a:spcBef>
              <a:buSzPct val="100000"/>
            </a:pPr>
            <a:r>
              <a:rPr lang="en-IN" sz="1200" dirty="0">
                <a:latin typeface="Cambria" panose="02040503050406030204" pitchFamily="18" charset="0"/>
              </a:rPr>
              <a:t>What is Patient Case Similarity?</a:t>
            </a:r>
          </a:p>
          <a:p>
            <a:pPr marL="342900" indent="-190500" algn="just">
              <a:spcBef>
                <a:spcPts val="0"/>
              </a:spcBef>
              <a:buSzPct val="100000"/>
            </a:pPr>
            <a:r>
              <a:rPr lang="en-IN" sz="1200" dirty="0">
                <a:latin typeface="Cambria" panose="02040503050406030204" pitchFamily="18" charset="0"/>
              </a:rPr>
              <a:t>Why is it important?</a:t>
            </a:r>
            <a:endParaRPr lang="en-IN" sz="1200" dirty="0"/>
          </a:p>
          <a:p>
            <a:pPr marL="152400" lvl="0" indent="0" algn="just" rtl="0">
              <a:lnSpc>
                <a:spcPct val="200000"/>
              </a:lnSpc>
              <a:spcBef>
                <a:spcPts val="0"/>
              </a:spcBef>
              <a:spcAft>
                <a:spcPts val="0"/>
              </a:spcAft>
              <a:buClr>
                <a:schemeClr val="dk1"/>
              </a:buClr>
              <a:buSzPct val="100000"/>
              <a:buNone/>
            </a:pPr>
            <a:endParaRPr lang="en-IN" sz="1200" dirty="0">
              <a:latin typeface="Cambria" panose="02040503050406030204" pitchFamily="18" charset="0"/>
              <a:ea typeface="Cambria" panose="02040503050406030204" pitchFamily="18" charset="0"/>
            </a:endParaRPr>
          </a:p>
          <a:p>
            <a:pPr marL="152400" lvl="0" indent="0" algn="just" rtl="0">
              <a:lnSpc>
                <a:spcPct val="200000"/>
              </a:lnSpc>
              <a:spcBef>
                <a:spcPts val="0"/>
              </a:spcBef>
              <a:spcAft>
                <a:spcPts val="0"/>
              </a:spcAft>
              <a:buClr>
                <a:schemeClr val="dk1"/>
              </a:buClr>
              <a:buSzPct val="100000"/>
              <a:buNone/>
            </a:pPr>
            <a:r>
              <a:rPr lang="en-IN" sz="1600" b="1" dirty="0">
                <a:latin typeface="Cambria" panose="02040503050406030204" pitchFamily="18" charset="0"/>
                <a:ea typeface="Cambria" panose="02040503050406030204" pitchFamily="18" charset="0"/>
              </a:rPr>
              <a:t>Challenges in Healthcare:</a:t>
            </a:r>
          </a:p>
          <a:p>
            <a:pPr marL="323850" indent="-171450" algn="just">
              <a:lnSpc>
                <a:spcPct val="200000"/>
              </a:lnSpc>
              <a:spcBef>
                <a:spcPts val="0"/>
              </a:spcBef>
              <a:buSzPct val="100000"/>
            </a:pPr>
            <a:r>
              <a:rPr lang="en-IN" sz="1200" dirty="0">
                <a:latin typeface="Cambria" panose="02040503050406030204" pitchFamily="18" charset="0"/>
                <a:ea typeface="Cambria" panose="02040503050406030204" pitchFamily="18" charset="0"/>
              </a:rPr>
              <a:t>Data Complexity: Medical records are often unstructured, and extracting meaningful insights can be complex.</a:t>
            </a:r>
          </a:p>
          <a:p>
            <a:pPr marL="323850" indent="-171450" algn="just">
              <a:lnSpc>
                <a:spcPct val="200000"/>
              </a:lnSpc>
              <a:spcBef>
                <a:spcPts val="0"/>
              </a:spcBef>
              <a:buSzPct val="100000"/>
            </a:pPr>
            <a:r>
              <a:rPr lang="en-IN" sz="1200" dirty="0">
                <a:latin typeface="Cambria" panose="02040503050406030204" pitchFamily="18" charset="0"/>
                <a:ea typeface="Cambria" panose="02040503050406030204" pitchFamily="18" charset="0"/>
              </a:rPr>
              <a:t>Volume of Data: The growing volume of patient data (EMRs, reports) makes it challenging to identify relevant cases manually.</a:t>
            </a:r>
          </a:p>
          <a:p>
            <a:pPr marL="323850" indent="-171450" algn="just">
              <a:lnSpc>
                <a:spcPct val="200000"/>
              </a:lnSpc>
              <a:spcBef>
                <a:spcPts val="0"/>
              </a:spcBef>
              <a:buSzPct val="100000"/>
            </a:pPr>
            <a:r>
              <a:rPr lang="en-IN" sz="1200" dirty="0">
                <a:latin typeface="Cambria" panose="02040503050406030204" pitchFamily="18" charset="0"/>
                <a:ea typeface="Cambria" panose="02040503050406030204" pitchFamily="18" charset="0"/>
              </a:rPr>
              <a:t>Need for Accurate Matching: Similarity must be accurate and reliable to ensure meaningful comparisons, as wrong matches could lead to incorrect treatments.</a:t>
            </a:r>
          </a:p>
          <a:p>
            <a:pPr marL="152400" indent="0" algn="just">
              <a:lnSpc>
                <a:spcPct val="200000"/>
              </a:lnSpc>
              <a:spcBef>
                <a:spcPts val="0"/>
              </a:spcBef>
              <a:buSzPct val="100000"/>
              <a:buNone/>
            </a:pPr>
            <a:r>
              <a:rPr lang="en-IN" sz="1600" b="1" dirty="0">
                <a:latin typeface="Cambria" panose="02040503050406030204" pitchFamily="18" charset="0"/>
                <a:ea typeface="Cambria" panose="02040503050406030204" pitchFamily="18" charset="0"/>
              </a:rPr>
              <a:t>Key Objectives of the System:</a:t>
            </a:r>
          </a:p>
          <a:p>
            <a:pPr marL="323850" indent="-171450" algn="just">
              <a:lnSpc>
                <a:spcPct val="200000"/>
              </a:lnSpc>
              <a:spcBef>
                <a:spcPts val="0"/>
              </a:spcBef>
              <a:buSzPct val="100000"/>
            </a:pPr>
            <a:r>
              <a:rPr lang="en-IN" sz="1200" dirty="0">
                <a:latin typeface="Cambria" panose="02040503050406030204" pitchFamily="18" charset="0"/>
                <a:ea typeface="Cambria" panose="02040503050406030204" pitchFamily="18" charset="0"/>
              </a:rPr>
              <a:t>Improve Patient Outcomes: By identifying past similar cases, doctors can recommend treatments that have been successful for similar patients.</a:t>
            </a:r>
          </a:p>
          <a:p>
            <a:pPr marL="323850" indent="-171450" algn="just">
              <a:lnSpc>
                <a:spcPct val="200000"/>
              </a:lnSpc>
              <a:spcBef>
                <a:spcPts val="0"/>
              </a:spcBef>
              <a:buSzPct val="100000"/>
            </a:pPr>
            <a:r>
              <a:rPr lang="en-IN" sz="1200" dirty="0">
                <a:latin typeface="Cambria" panose="02040503050406030204" pitchFamily="18" charset="0"/>
                <a:ea typeface="Cambria" panose="02040503050406030204" pitchFamily="18" charset="0"/>
              </a:rPr>
              <a:t>Clinical Decision Support: Help doctors make more informed decisions based on data-driven insights.</a:t>
            </a:r>
          </a:p>
          <a:p>
            <a:pPr marL="323850" indent="-171450" algn="just">
              <a:lnSpc>
                <a:spcPct val="200000"/>
              </a:lnSpc>
              <a:spcBef>
                <a:spcPts val="0"/>
              </a:spcBef>
              <a:buSzPct val="100000"/>
            </a:pPr>
            <a:r>
              <a:rPr lang="en-IN" sz="1200" dirty="0">
                <a:latin typeface="Cambria" panose="02040503050406030204" pitchFamily="18" charset="0"/>
                <a:ea typeface="Cambria" panose="02040503050406030204" pitchFamily="18" charset="0"/>
              </a:rPr>
              <a:t>Enhance Research: Enable researchers to study trends, treatments, and outcomes on a larger scale by comparing patient groups.</a:t>
            </a:r>
          </a:p>
          <a:p>
            <a:pPr marL="152400" indent="0" algn="just">
              <a:lnSpc>
                <a:spcPct val="200000"/>
              </a:lnSpc>
              <a:spcBef>
                <a:spcPts val="0"/>
              </a:spcBef>
              <a:buSzPct val="100000"/>
              <a:buNone/>
            </a:pPr>
            <a:endParaRPr lang="en-IN" sz="1200" dirty="0">
              <a:latin typeface="Cambria" panose="02040503050406030204" pitchFamily="18" charset="0"/>
              <a:ea typeface="Cambria" panose="02040503050406030204" pitchFamily="18" charset="0"/>
            </a:endParaRPr>
          </a:p>
          <a:p>
            <a:pPr marL="323850" indent="-171450" algn="just">
              <a:lnSpc>
                <a:spcPct val="200000"/>
              </a:lnSpc>
              <a:spcBef>
                <a:spcPts val="0"/>
              </a:spcBef>
              <a:buSzPct val="100000"/>
            </a:pPr>
            <a:endParaRPr lang="en-IN" sz="1200" dirty="0">
              <a:latin typeface="Cambria" panose="02040503050406030204" pitchFamily="18" charset="0"/>
              <a:ea typeface="Cambria" panose="02040503050406030204" pitchFamily="18" charset="0"/>
            </a:endParaRPr>
          </a:p>
          <a:p>
            <a:pPr marL="609600" lvl="0" indent="-457200" algn="just" rtl="0">
              <a:lnSpc>
                <a:spcPct val="200000"/>
              </a:lnSpc>
              <a:spcBef>
                <a:spcPts val="0"/>
              </a:spcBef>
              <a:spcAft>
                <a:spcPts val="0"/>
              </a:spcAft>
              <a:buClr>
                <a:schemeClr val="dk1"/>
              </a:buClr>
              <a:buSzPct val="100000"/>
              <a:buFont typeface="+mj-lt"/>
              <a:buAutoNum type="arabicPeriod"/>
            </a:pPr>
            <a:endParaRPr sz="18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930442" y="1128156"/>
            <a:ext cx="10327366" cy="4919718"/>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IN" sz="1600" b="1" dirty="0">
                <a:latin typeface="Cambria" panose="02040503050406030204" pitchFamily="18" charset="0"/>
                <a:ea typeface="Cambria" panose="02040503050406030204" pitchFamily="18" charset="0"/>
              </a:rPr>
              <a:t>Technical Challenges:</a:t>
            </a:r>
          </a:p>
          <a:p>
            <a:pPr marL="438150" indent="-285750" algn="just">
              <a:lnSpc>
                <a:spcPct val="200000"/>
              </a:lnSpc>
              <a:spcBef>
                <a:spcPts val="0"/>
              </a:spcBef>
              <a:buSzPct val="100000"/>
            </a:pPr>
            <a:r>
              <a:rPr lang="en-IN" sz="1200" dirty="0">
                <a:latin typeface="Cambria" panose="02040503050406030204" pitchFamily="18" charset="0"/>
                <a:ea typeface="Cambria" panose="02040503050406030204" pitchFamily="18" charset="0"/>
              </a:rPr>
              <a:t>Data Processing: Extracting useful information from raw medical data, which could be in different formats</a:t>
            </a:r>
          </a:p>
          <a:p>
            <a:pPr marL="438150" indent="-285750" algn="just">
              <a:lnSpc>
                <a:spcPct val="200000"/>
              </a:lnSpc>
              <a:spcBef>
                <a:spcPts val="0"/>
              </a:spcBef>
              <a:buSzPct val="100000"/>
            </a:pPr>
            <a:r>
              <a:rPr lang="en-IN" sz="1200" dirty="0">
                <a:latin typeface="Cambria" panose="02040503050406030204" pitchFamily="18" charset="0"/>
                <a:ea typeface="Cambria" panose="02040503050406030204" pitchFamily="18" charset="0"/>
              </a:rPr>
              <a:t>Case Similarity Algorithm: Applying machine learning to quantify how similar two cases are based on multiple features like medical history, diagnosis, treatments, etc.</a:t>
            </a:r>
          </a:p>
          <a:p>
            <a:pPr marL="438150" indent="-285750" algn="just">
              <a:lnSpc>
                <a:spcPct val="200000"/>
              </a:lnSpc>
              <a:spcBef>
                <a:spcPts val="0"/>
              </a:spcBef>
              <a:buSzPct val="100000"/>
            </a:pPr>
            <a:r>
              <a:rPr lang="en-IN" sz="1200" dirty="0">
                <a:latin typeface="Cambria" panose="02040503050406030204" pitchFamily="18" charset="0"/>
                <a:ea typeface="Cambria" panose="02040503050406030204" pitchFamily="18" charset="0"/>
              </a:rPr>
              <a:t>Efficient Search: Ensuring that the system can handle large datasets and return relevant results quickly and efficiently.</a:t>
            </a:r>
          </a:p>
          <a:p>
            <a:pPr marL="438150" indent="-285750" algn="just">
              <a:lnSpc>
                <a:spcPct val="200000"/>
              </a:lnSpc>
              <a:spcBef>
                <a:spcPts val="0"/>
              </a:spcBef>
              <a:buSzPct val="100000"/>
            </a:pPr>
            <a:endParaRPr lang="en-IN" sz="1200" dirty="0">
              <a:latin typeface="Cambria" panose="02040503050406030204" pitchFamily="18" charset="0"/>
              <a:ea typeface="Cambria" panose="02040503050406030204" pitchFamily="18" charset="0"/>
            </a:endParaRPr>
          </a:p>
          <a:p>
            <a:pPr marL="152400" indent="0" algn="just">
              <a:lnSpc>
                <a:spcPct val="200000"/>
              </a:lnSpc>
              <a:spcBef>
                <a:spcPts val="0"/>
              </a:spcBef>
              <a:buSzPct val="100000"/>
              <a:buNone/>
            </a:pPr>
            <a:r>
              <a:rPr lang="en-IN" sz="1600" b="1" dirty="0">
                <a:latin typeface="Cambria" panose="02040503050406030204" pitchFamily="18" charset="0"/>
                <a:ea typeface="Cambria" panose="02040503050406030204" pitchFamily="18" charset="0"/>
              </a:rPr>
              <a:t>Expected Outcomes:</a:t>
            </a:r>
          </a:p>
          <a:p>
            <a:pPr marL="323850" indent="-171450" algn="just">
              <a:lnSpc>
                <a:spcPct val="200000"/>
              </a:lnSpc>
              <a:spcBef>
                <a:spcPts val="0"/>
              </a:spcBef>
              <a:buSzPct val="100000"/>
            </a:pPr>
            <a:r>
              <a:rPr lang="en-IN" sz="1200" dirty="0">
                <a:latin typeface="Cambria" panose="02040503050406030204" pitchFamily="18" charset="0"/>
                <a:ea typeface="Cambria" panose="02040503050406030204" pitchFamily="18" charset="0"/>
              </a:rPr>
              <a:t>Treatment Recommendations: Provide doctors with a list of treatment plans used for similar patients.</a:t>
            </a:r>
          </a:p>
          <a:p>
            <a:pPr marL="323850" indent="-171450" algn="just">
              <a:lnSpc>
                <a:spcPct val="200000"/>
              </a:lnSpc>
              <a:spcBef>
                <a:spcPts val="0"/>
              </a:spcBef>
              <a:buSzPct val="100000"/>
            </a:pPr>
            <a:r>
              <a:rPr lang="en-IN" sz="1200" dirty="0">
                <a:latin typeface="Cambria" panose="02040503050406030204" pitchFamily="18" charset="0"/>
                <a:ea typeface="Cambria" panose="02040503050406030204" pitchFamily="18" charset="0"/>
              </a:rPr>
              <a:t>Predictive Outcomes: Help doctors anticipate potential clinical outcomes based on similar cases.</a:t>
            </a:r>
          </a:p>
          <a:p>
            <a:pPr marL="323850" indent="-171450" algn="just">
              <a:lnSpc>
                <a:spcPct val="200000"/>
              </a:lnSpc>
              <a:spcBef>
                <a:spcPts val="0"/>
              </a:spcBef>
              <a:buSzPct val="100000"/>
            </a:pPr>
            <a:r>
              <a:rPr lang="en-IN" sz="1200" dirty="0">
                <a:latin typeface="Cambria" panose="02040503050406030204" pitchFamily="18" charset="0"/>
                <a:ea typeface="Cambria" panose="02040503050406030204" pitchFamily="18" charset="0"/>
              </a:rPr>
              <a:t>Research Opportunities: Open new areas of research by enabling large-scale patient case comparisons.</a:t>
            </a:r>
          </a:p>
          <a:p>
            <a:pPr marL="152400" indent="0" algn="just">
              <a:lnSpc>
                <a:spcPct val="200000"/>
              </a:lnSpc>
              <a:spcBef>
                <a:spcPts val="0"/>
              </a:spcBef>
              <a:buSzPct val="100000"/>
              <a:buNone/>
            </a:pPr>
            <a:endParaRPr lang="en-IN" sz="12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23138" cy="469966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b="1" dirty="0">
                <a:latin typeface="Cambria" panose="02040503050406030204" pitchFamily="18" charset="0"/>
                <a:ea typeface="Cambria" panose="02040503050406030204" pitchFamily="18" charset="0"/>
              </a:rPr>
              <a:t>Technology Stack:</a:t>
            </a: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a:lnSpc>
                <a:spcPct val="115000"/>
              </a:lnSpc>
              <a:spcAft>
                <a:spcPts val="800"/>
              </a:spcAft>
            </a:pP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Frontend: HTML, CSS, Bootstrap </a:t>
            </a:r>
          </a:p>
          <a:p>
            <a:pPr>
              <a:lnSpc>
                <a:spcPct val="115000"/>
              </a:lnSpc>
              <a:spcAft>
                <a:spcPts val="800"/>
              </a:spcAft>
            </a:pP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Backend: Python Flask (for handling user requests, MongoDB integration, and routing)</a:t>
            </a:r>
            <a:endParaRPr lang="en-IN" sz="1800" kern="100" dirty="0">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15000"/>
              </a:lnSpc>
              <a:spcAft>
                <a:spcPts val="800"/>
              </a:spcAft>
            </a:pP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Database: Excel</a:t>
            </a:r>
            <a:endParaRPr lang="en-IN" sz="1800" kern="100" dirty="0">
              <a:effectLst/>
              <a:latin typeface="Aptos" panose="020B0004020202020204" pitchFamily="34" charset="0"/>
              <a:ea typeface="Times New Roman" panose="02020603050405020304" pitchFamily="18" charset="0"/>
              <a:cs typeface="Times New Roman" panose="02020603050405020304" pitchFamily="18" charset="0"/>
            </a:endParaRPr>
          </a:p>
          <a:p>
            <a:pPr>
              <a:lnSpc>
                <a:spcPct val="115000"/>
              </a:lnSpc>
              <a:spcAft>
                <a:spcPts val="800"/>
              </a:spcAft>
            </a:pP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ML Libraries: Scikit-learn, TensorFlow/</a:t>
            </a:r>
            <a:r>
              <a:rPr lang="en-US" sz="1800" kern="100" dirty="0" err="1">
                <a:effectLst/>
                <a:latin typeface="Aptos" panose="020B0004020202020204" pitchFamily="34" charset="0"/>
                <a:ea typeface="Times New Roman" panose="02020603050405020304" pitchFamily="18" charset="0"/>
                <a:cs typeface="Times New Roman" panose="02020603050405020304" pitchFamily="18" charset="0"/>
              </a:rPr>
              <a:t>Keras</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NLTK/</a:t>
            </a:r>
            <a:r>
              <a:rPr lang="en-US" sz="1800" kern="100" dirty="0" err="1">
                <a:effectLst/>
                <a:latin typeface="Aptos" panose="020B0004020202020204" pitchFamily="34" charset="0"/>
                <a:ea typeface="Times New Roman" panose="02020603050405020304" pitchFamily="18" charset="0"/>
                <a:cs typeface="Times New Roman" panose="02020603050405020304" pitchFamily="18" charset="0"/>
              </a:rPr>
              <a:t>SpaCy</a:t>
            </a:r>
            <a:r>
              <a:rPr lang="en-US" sz="1800" kern="100" dirty="0">
                <a:effectLst/>
                <a:latin typeface="Aptos" panose="020B0004020202020204" pitchFamily="34" charset="0"/>
                <a:ea typeface="Times New Roman" panose="02020603050405020304" pitchFamily="18" charset="0"/>
                <a:cs typeface="Times New Roman" panose="02020603050405020304" pitchFamily="18" charset="0"/>
              </a:rPr>
              <a:t> (for NLP and similarity matching)</a:t>
            </a:r>
          </a:p>
          <a:p>
            <a:pPr>
              <a:lnSpc>
                <a:spcPct val="115000"/>
              </a:lnSpc>
              <a:spcAft>
                <a:spcPts val="800"/>
              </a:spcAft>
            </a:pPr>
            <a:r>
              <a:rPr lang="en-US" sz="1800" kern="100" dirty="0">
                <a:latin typeface="Aptos" panose="020B0004020202020204" pitchFamily="34" charset="0"/>
                <a:ea typeface="Times New Roman" panose="02020603050405020304" pitchFamily="18" charset="0"/>
                <a:cs typeface="Times New Roman" panose="02020603050405020304" pitchFamily="18" charset="0"/>
              </a:rPr>
              <a:t>Model Used: SVM</a:t>
            </a:r>
            <a:endParaRPr lang="en-IN" sz="1800" kern="100" dirty="0">
              <a:effectLst/>
              <a:latin typeface="Aptos" panose="020B00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3" name="Picture 2">
            <a:extLst>
              <a:ext uri="{FF2B5EF4-FFF2-40B4-BE49-F238E27FC236}">
                <a16:creationId xmlns:a16="http://schemas.microsoft.com/office/drawing/2014/main" id="{8C638ED0-FEDA-A0B9-6BC0-110546557007}"/>
              </a:ext>
            </a:extLst>
          </p:cNvPr>
          <p:cNvPicPr>
            <a:picLocks noChangeAspect="1"/>
          </p:cNvPicPr>
          <p:nvPr/>
        </p:nvPicPr>
        <p:blipFill>
          <a:blip r:embed="rId3"/>
          <a:stretch>
            <a:fillRect/>
          </a:stretch>
        </p:blipFill>
        <p:spPr>
          <a:xfrm>
            <a:off x="2643484" y="1025122"/>
            <a:ext cx="5871123" cy="5204573"/>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CD97C-CECF-F242-4B84-7C33EB3BD7FB}"/>
              </a:ext>
            </a:extLst>
          </p:cNvPr>
          <p:cNvSpPr>
            <a:spLocks noGrp="1"/>
          </p:cNvSpPr>
          <p:nvPr>
            <p:ph type="title"/>
          </p:nvPr>
        </p:nvSpPr>
        <p:spPr/>
        <p:txBody>
          <a:bodyPr/>
          <a:lstStyle/>
          <a:p>
            <a:r>
              <a:rPr lang="en-US" dirty="0"/>
              <a:t>Outcomes</a:t>
            </a:r>
          </a:p>
        </p:txBody>
      </p:sp>
      <p:sp>
        <p:nvSpPr>
          <p:cNvPr id="3" name="Text Placeholder 2">
            <a:extLst>
              <a:ext uri="{FF2B5EF4-FFF2-40B4-BE49-F238E27FC236}">
                <a16:creationId xmlns:a16="http://schemas.microsoft.com/office/drawing/2014/main" id="{F840C41C-9275-72A1-976F-189DA4912EDB}"/>
              </a:ext>
            </a:extLst>
          </p:cNvPr>
          <p:cNvSpPr>
            <a:spLocks noGrp="1"/>
          </p:cNvSpPr>
          <p:nvPr>
            <p:ph type="body" idx="1"/>
          </p:nvPr>
        </p:nvSpPr>
        <p:spPr/>
        <p:txBody>
          <a:bodyPr/>
          <a:lstStyle/>
          <a:p>
            <a:pPr>
              <a:lnSpc>
                <a:spcPct val="220000"/>
              </a:lnSpc>
            </a:pPr>
            <a:r>
              <a:rPr lang="en-US" b="1" dirty="0"/>
              <a:t>Disease Predictions based on Symptoms</a:t>
            </a:r>
          </a:p>
          <a:p>
            <a:pPr>
              <a:lnSpc>
                <a:spcPct val="220000"/>
              </a:lnSpc>
            </a:pPr>
            <a:r>
              <a:rPr lang="en-US" b="1" dirty="0"/>
              <a:t>Disease Description</a:t>
            </a:r>
          </a:p>
          <a:p>
            <a:pPr>
              <a:lnSpc>
                <a:spcPct val="220000"/>
              </a:lnSpc>
            </a:pPr>
            <a:r>
              <a:rPr lang="en-US" b="1" dirty="0"/>
              <a:t>Precautions suggestions</a:t>
            </a:r>
          </a:p>
          <a:p>
            <a:pPr>
              <a:lnSpc>
                <a:spcPct val="220000"/>
              </a:lnSpc>
            </a:pPr>
            <a:r>
              <a:rPr lang="en-US" b="1" dirty="0"/>
              <a:t>Diet Suggestions</a:t>
            </a:r>
          </a:p>
          <a:p>
            <a:endParaRPr lang="en-US" dirty="0"/>
          </a:p>
          <a:p>
            <a:r>
              <a:rPr lang="en-US" b="1" dirty="0"/>
              <a:t>Accuracy: 100%</a:t>
            </a:r>
          </a:p>
        </p:txBody>
      </p:sp>
    </p:spTree>
    <p:extLst>
      <p:ext uri="{BB962C8B-B14F-4D97-AF65-F5344CB8AC3E}">
        <p14:creationId xmlns:p14="http://schemas.microsoft.com/office/powerpoint/2010/main" val="3115937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495300" indent="-342900">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P. R. Lichtenstein et al., "Multi-view patient similarity analysis using deep learning for clinical decision support," in Proceedings of the 11th ACM Conference on Bioinformatics, Computational Biology, and Health Informatics (ACM-BCB), New York, USA, 2020, pp. 304-311, </a:t>
            </a:r>
            <a:r>
              <a:rPr lang="en-US" dirty="0" err="1">
                <a:latin typeface="Cambria" panose="02040503050406030204" pitchFamily="18" charset="0"/>
                <a:ea typeface="Cambria" panose="02040503050406030204" pitchFamily="18" charset="0"/>
              </a:rPr>
              <a:t>doi</a:t>
            </a:r>
            <a:r>
              <a:rPr lang="en-US" dirty="0">
                <a:latin typeface="Cambria" panose="02040503050406030204" pitchFamily="18" charset="0"/>
                <a:ea typeface="Cambria" panose="02040503050406030204" pitchFamily="18" charset="0"/>
              </a:rPr>
              <a:t>: 10.1145/3388440.3412425.</a:t>
            </a:r>
          </a:p>
          <a:p>
            <a:pPr marL="495300" indent="-342900">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M. Huang, J. Mei, J. Chen, and L. Zhang, "Patient similarity analysis for personalized healthcare: A survey," IEEE Access, vol. 7, pp. 152423-152433, 2019, </a:t>
            </a:r>
            <a:r>
              <a:rPr lang="en-US" dirty="0" err="1">
                <a:latin typeface="Cambria" panose="02040503050406030204" pitchFamily="18" charset="0"/>
                <a:ea typeface="Cambria" panose="02040503050406030204" pitchFamily="18" charset="0"/>
              </a:rPr>
              <a:t>doi</a:t>
            </a:r>
            <a:r>
              <a:rPr lang="en-US" dirty="0">
                <a:latin typeface="Cambria" panose="02040503050406030204" pitchFamily="18" charset="0"/>
                <a:ea typeface="Cambria" panose="02040503050406030204" pitchFamily="18" charset="0"/>
              </a:rPr>
              <a:t>: 10.1109/ACCESS.2019.2948272.</a:t>
            </a:r>
          </a:p>
          <a:p>
            <a:pPr marL="495300" indent="-342900">
              <a:spcBef>
                <a:spcPts val="0"/>
              </a:spcBef>
              <a:buFont typeface="Wingdings" panose="05000000000000000000" pitchFamily="2" charset="2"/>
              <a:buChar char="Ø"/>
            </a:pPr>
            <a:r>
              <a:rPr lang="en-US" dirty="0">
                <a:latin typeface="Cambria" panose="02040503050406030204" pitchFamily="18" charset="0"/>
                <a:ea typeface="Cambria" panose="02040503050406030204" pitchFamily="18" charset="0"/>
              </a:rPr>
              <a:t>S. Wang, K. Jiang, J. Lee, and J. Luo, "A machine learning framework for similarity-based prediction in personalized healthcare," IEEE Journal of Biomedical and Health Informatics, vol. 22, no. 3, pp. 1014-1025, May 2018, </a:t>
            </a:r>
            <a:r>
              <a:rPr lang="en-US" dirty="0" err="1">
                <a:latin typeface="Cambria" panose="02040503050406030204" pitchFamily="18" charset="0"/>
                <a:ea typeface="Cambria" panose="02040503050406030204" pitchFamily="18" charset="0"/>
              </a:rPr>
              <a:t>doi</a:t>
            </a:r>
            <a:r>
              <a:rPr lang="en-US" dirty="0">
                <a:latin typeface="Cambria" panose="02040503050406030204" pitchFamily="18" charset="0"/>
                <a:ea typeface="Cambria" panose="02040503050406030204" pitchFamily="18" charset="0"/>
              </a:rPr>
              <a:t>: 10.1109/JBHI.2017.2760244. </a:t>
            </a:r>
          </a:p>
          <a:p>
            <a:pPr marL="152400" indent="0">
              <a:spcBef>
                <a:spcPts val="0"/>
              </a:spcBef>
              <a:buNone/>
            </a:pPr>
            <a:r>
              <a:rPr lang="en-US"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1067</TotalTime>
  <Words>722</Words>
  <Application>Microsoft Macintosh PowerPoint</Application>
  <PresentationFormat>Widescreen</PresentationFormat>
  <Paragraphs>78</Paragraphs>
  <Slides>10</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vt:i4>
      </vt:variant>
    </vt:vector>
  </HeadingPairs>
  <TitlesOfParts>
    <vt:vector size="18" baseType="lpstr">
      <vt:lpstr>Aptos</vt:lpstr>
      <vt:lpstr>Arial</vt:lpstr>
      <vt:lpstr>Bookman Old Style</vt:lpstr>
      <vt:lpstr>Cambria</vt:lpstr>
      <vt:lpstr>Times New Roman</vt:lpstr>
      <vt:lpstr>Verdana</vt:lpstr>
      <vt:lpstr>Wingdings</vt:lpstr>
      <vt:lpstr>Bioinformatics</vt:lpstr>
      <vt:lpstr>Patient Case Similarity</vt:lpstr>
      <vt:lpstr>Content</vt:lpstr>
      <vt:lpstr>Problem Statement Number: </vt:lpstr>
      <vt:lpstr>Analysis of Problem Statement</vt:lpstr>
      <vt:lpstr>Analysis of Problem Statement (contd...)</vt:lpstr>
      <vt:lpstr>Analysis of Problem Statement (contd...)</vt:lpstr>
      <vt:lpstr>Timeline of the Project (Gantt Chart)</vt:lpstr>
      <vt:lpstr>Outcomes</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sanjana acharya</cp:lastModifiedBy>
  <cp:revision>46</cp:revision>
  <dcterms:modified xsi:type="dcterms:W3CDTF">2025-01-08T20:31:18Z</dcterms:modified>
</cp:coreProperties>
</file>